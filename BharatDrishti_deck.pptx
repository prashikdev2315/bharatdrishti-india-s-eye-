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9933"/>
                </a:solidFill>
              </a:rPr>
              <a:t>BharatDrishti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India's 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</a:rPr>
              <a:t>Sovereign Satellite Intelligence  ·  Powered by Deep-Tech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977639"/>
            <a:ext cx="11430000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933"/>
                </a:solidFill>
              </a:rPr>
              <a:t>41M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4160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933"/>
                </a:solidFill>
              </a:rPr>
              <a:t>94.95%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Val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933"/>
                </a:solidFill>
              </a:rPr>
              <a:t>&lt; 3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Per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4160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933"/>
                </a:solidFill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4663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Sovereign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Track: Sovereign Technology for India  |  AI Infra &amp; Compute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9933"/>
                </a:solidFill>
              </a:rPr>
              <a:t>Problem — India's Geospatial Blind Spot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96112"/>
            <a:ext cx="11430000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>
                <a:solidFill>
                  <a:srgbClr val="CCCCCC"/>
                </a:solidFill>
              </a:rPr>
              <a:t>▸  290 TB of Sentinel-2 imagery over Indian territory captured daily — left unanalysed</a:t>
            </a:r>
          </a:p>
          <a:p>
            <a:pPr algn="l">
              <a:spcAft>
                <a:spcPts val="400"/>
              </a:spcAft>
            </a:pPr>
            <a:r>
              <a:rPr sz="1900">
                <a:solidFill>
                  <a:srgbClr val="CCCCCC"/>
                </a:solidFill>
              </a:rPr>
              <a:t>▸  All major change-detection platforms are foreign-controlled:</a:t>
            </a:r>
          </a:p>
          <a:p>
            <a:pPr algn="l">
              <a:spcAft>
                <a:spcPts val="400"/>
              </a:spcAft>
            </a:pPr>
            <a:r>
              <a:rPr sz="1900">
                <a:solidFill>
                  <a:srgbClr val="CCCCCC"/>
                </a:solidFill>
              </a:rPr>
              <a:t>     Google Earth Engine (US)   ·   Planet Labs (US subscription)   ·   Maxar (US DoD)</a:t>
            </a:r>
          </a:p>
          <a:p>
            <a:pPr algn="l">
              <a:spcAft>
                <a:spcPts val="400"/>
              </a:spcAft>
            </a:pPr>
            <a:r>
              <a:rPr sz="1900">
                <a:solidFill>
                  <a:srgbClr val="CCCCCC"/>
                </a:solidFill>
              </a:rPr>
              <a:t>▸  No sovereign, offline-capable AI platform exists for strategic monitoring</a:t>
            </a:r>
          </a:p>
          <a:p>
            <a:pPr algn="l">
              <a:spcAft>
                <a:spcPts val="400"/>
              </a:spcAft>
            </a:pPr>
            <a:r>
              <a:rPr sz="1900">
                <a:solidFill>
                  <a:srgbClr val="CCCCCC"/>
                </a:solidFill>
              </a:rPr>
              <a:t>▸  Critical stakeholders remain blind to rapid land-cover changes: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11880"/>
            <a:ext cx="2743200" cy="13716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9933"/>
                </a:solidFill>
              </a:rPr>
              <a:t>ISRO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Needs automated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change alerts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611880"/>
            <a:ext cx="2743200" cy="13716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3703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9933"/>
                </a:solidFill>
              </a:rPr>
              <a:t>NDMA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0233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Flood disaster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611880"/>
            <a:ext cx="2743200" cy="13716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703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9933"/>
                </a:solidFill>
              </a:rPr>
              <a:t>Defence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Border infra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611880"/>
            <a:ext cx="2743200" cy="13716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3703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9933"/>
                </a:solidFill>
              </a:rPr>
              <a:t>Urban
Planners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0233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Unauthorised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construction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9933"/>
                </a:solidFill>
              </a:rPr>
              <a:t>Result: India remains dependent on foreign infrastructure for its own strategic territory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BharatDrishti  ·  Sovereign Technology for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9933"/>
                </a:solidFill>
              </a:rPr>
              <a:t>Solution — What BharatDrishti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96112"/>
            <a:ext cx="11430000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End-to-end sovereign geospatial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Ingests free Copernicus CDSE Sentinel-2 L2A GeoTIFFs — zero foreign-API cost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Runs ChangeFormerV6 (41M-param Siamese Transformer) for bi-temporal change detection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Produces per-pixel change heatmap, binary mask, NDVI diff map, GeoJSON polygons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Generates automated natural-language intelligence brief — no manual report writing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100% offline-capable — deployable on ISRO servers or air-gapped military networks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CCCCCC"/>
                </a:solidFill>
              </a:rPr>
              <a:t>▸  Replaces Google Earth Engine / Planet Labs with Made-in-India sovereign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434840"/>
            <a:ext cx="2194560" cy="13716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526279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33"/>
                </a:solidFill>
              </a:rPr>
              <a:t>Heatmap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46320"/>
            <a:ext cx="2011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Per-pixel change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probability 0–1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15184" y="4434840"/>
            <a:ext cx="2194560" cy="13716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06624" y="4526279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33"/>
                </a:solidFill>
              </a:rPr>
              <a:t>Binary Mask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4846320"/>
            <a:ext cx="2011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Morphologically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cleaned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4434840"/>
            <a:ext cx="2194560" cy="13716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47488" y="4526279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33"/>
                </a:solidFill>
              </a:rPr>
              <a:t>NDVI Diff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4846320"/>
            <a:ext cx="2011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Vegetation health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T2 − T1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96912" y="4434840"/>
            <a:ext cx="2194560" cy="13716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88352" y="4526279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33"/>
                </a:solidFill>
              </a:rPr>
              <a:t>GeoJSON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4846320"/>
            <a:ext cx="2011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Polygons with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confidence + area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37776" y="4434840"/>
            <a:ext cx="2194560" cy="13716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29216" y="4526279"/>
            <a:ext cx="2011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9933"/>
                </a:solidFill>
              </a:rPr>
              <a:t>AI Brief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9216" y="4846320"/>
            <a:ext cx="2011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Natural-language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intelligence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BharatDrishti  ·  Sovereign Technology for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9933"/>
                </a:solidFill>
              </a:rPr>
              <a:t>Architecture — Four Sovereign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96112"/>
            <a:ext cx="11430000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45720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9933"/>
                </a:solidFill>
              </a:rP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Sentinel-2
Data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2377440" cy="274320"/>
          </a:xfrm>
          <a:prstGeom prst="rect">
            <a:avLst/>
          </a:prstGeom>
          <a:solidFill>
            <a:srgbClr val="101028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9933"/>
                </a:solidFill>
              </a:rPr>
              <a:t>sentinel_fetch.py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CDSE live download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8986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On-disk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7413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Synthetic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8496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L2A GeoTIFF 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9933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097280"/>
            <a:ext cx="2743200" cy="45720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9933"/>
                </a:solidFill>
              </a:rPr>
              <a:t>Layer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417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ChangeFormerV6
AI Inference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057400"/>
            <a:ext cx="2377440" cy="274320"/>
          </a:xfrm>
          <a:prstGeom prst="rect">
            <a:avLst/>
          </a:prstGeom>
          <a:solidFill>
            <a:srgbClr val="101028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2057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9933"/>
                </a:solidFill>
              </a:rPr>
              <a:t>inference.py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41M Siamese Transformer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28986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Bi-temporal forward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337413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NDVI computation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38496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GeoJSON polygon 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9933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097280"/>
            <a:ext cx="2743200" cy="45720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9933"/>
                </a:solidFill>
              </a:rPr>
              <a:t>Layer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417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FastAPI
Backend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057400"/>
            <a:ext cx="2377440" cy="274320"/>
          </a:xfrm>
          <a:prstGeom prst="rect">
            <a:avLst/>
          </a:prstGeom>
          <a:solidFill>
            <a:srgbClr val="101028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2057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9933"/>
                </a:solidFill>
              </a:rPr>
              <a:t>api.py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Lazy model loading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8986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Response caching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37413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10 REST endpoints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8496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&lt; 3 s 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9933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1097280"/>
            <a:ext cx="2743200" cy="457200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8972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9933"/>
                </a:solidFill>
              </a:rPr>
              <a:t>Layer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1417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React/Leaflet
Frontend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2057400"/>
            <a:ext cx="2377440" cy="274320"/>
          </a:xfrm>
          <a:prstGeom prst="rect">
            <a:avLst/>
          </a:prstGeom>
          <a:solidFill>
            <a:srgbClr val="101028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72600" y="2057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9933"/>
                </a:solidFill>
              </a:rPr>
              <a:t>frontend/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2423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Before/after slider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28986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GeoJSON polygon 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37413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NDVI diff panel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384962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AI analysis panel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BharatDrishti  ·  Sovereign Technology for India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9933"/>
                </a:solidFill>
              </a:rPr>
              <a:t>Results — Three Indian Regions Validated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96112"/>
            <a:ext cx="11430000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743200" cy="118872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9933"/>
                </a:solidFill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Change Polygons
Navi Mumbai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05840"/>
            <a:ext cx="2743200" cy="118872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051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9933"/>
                </a:solidFill>
              </a:rPr>
              <a:t>297.71 km²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Change Area
Navi Mumbai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2743200" cy="118872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051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9933"/>
                </a:solidFill>
              </a:rPr>
              <a:t>3 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India Coverage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005840"/>
            <a:ext cx="2743200" cy="118872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1051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9933"/>
                </a:solidFill>
              </a:rPr>
              <a:t>&lt; 3 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Per Inference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23160"/>
            <a:ext cx="2286000" cy="36576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1A"/>
                </a:solidFill>
              </a:rPr>
              <a:t>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2423160"/>
            <a:ext cx="1554480" cy="36576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06040" y="2423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1A"/>
                </a:solidFill>
              </a:rPr>
              <a:t>Polygons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423160"/>
            <a:ext cx="1554480" cy="36576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2423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1A"/>
                </a:solidFill>
              </a:rPr>
              <a:t>Area (km²)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2423160"/>
            <a:ext cx="1371600" cy="36576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1A"/>
                </a:solidFill>
              </a:rPr>
              <a:t>Change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2423160"/>
            <a:ext cx="2011680" cy="36576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1A"/>
                </a:solidFill>
              </a:rPr>
              <a:t>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2423160"/>
            <a:ext cx="1828800" cy="36576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9828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1A"/>
                </a:solidFill>
              </a:rPr>
              <a:t>Category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788920"/>
            <a:ext cx="228600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2788920"/>
            <a:ext cx="2286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Navi Mumbai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2788920"/>
            <a:ext cx="155448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06040" y="2788920"/>
            <a:ext cx="15544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2788920"/>
            <a:ext cx="155448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60520" y="2788920"/>
            <a:ext cx="15544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297.71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0" y="2788920"/>
            <a:ext cx="137160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15000" y="2788920"/>
            <a:ext cx="1371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46.9 %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2788920"/>
            <a:ext cx="201168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86600" y="2788920"/>
            <a:ext cx="20116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FFFFFF"/>
                </a:solidFill>
              </a:rPr>
              <a:t>42% </a:t>
            </a:r>
            <a:r>
              <a:rPr lang="en-US" sz="1500" b="0" dirty="0">
                <a:solidFill>
                  <a:srgbClr val="FFFFFF"/>
                </a:solidFill>
              </a:rPr>
              <a:t>*</a:t>
            </a:r>
            <a:endParaRPr sz="1500" b="0" dirty="0">
              <a:solidFill>
                <a:srgbClr val="FFFFFF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098280" y="2788920"/>
            <a:ext cx="182880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98280" y="2788920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construction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355848"/>
            <a:ext cx="2286000" cy="521207"/>
          </a:xfrm>
          <a:prstGeom prst="rect">
            <a:avLst/>
          </a:prstGeom>
          <a:solidFill>
            <a:srgbClr val="1E1E32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3355848"/>
            <a:ext cx="2286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Assam / Bihar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40" y="3355848"/>
            <a:ext cx="1554480" cy="521207"/>
          </a:xfrm>
          <a:prstGeom prst="rect">
            <a:avLst/>
          </a:prstGeom>
          <a:solidFill>
            <a:srgbClr val="1E1E32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06040" y="3355848"/>
            <a:ext cx="15544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3355848"/>
            <a:ext cx="1554480" cy="521207"/>
          </a:xfrm>
          <a:prstGeom prst="rect">
            <a:avLst/>
          </a:prstGeom>
          <a:solidFill>
            <a:srgbClr val="1E1E32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60520" y="3355848"/>
            <a:ext cx="15544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12.2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15000" y="3355848"/>
            <a:ext cx="1371600" cy="521207"/>
          </a:xfrm>
          <a:prstGeom prst="rect">
            <a:avLst/>
          </a:prstGeom>
          <a:solidFill>
            <a:srgbClr val="1E1E32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15000" y="3355848"/>
            <a:ext cx="1371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46.4 %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86600" y="3355848"/>
            <a:ext cx="2011680" cy="521207"/>
          </a:xfrm>
          <a:prstGeom prst="rect">
            <a:avLst/>
          </a:prstGeom>
          <a:solidFill>
            <a:srgbClr val="1E1E32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86600" y="3355848"/>
            <a:ext cx="20116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38% *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3355848"/>
            <a:ext cx="1828800" cy="521207"/>
          </a:xfrm>
          <a:prstGeom prst="rect">
            <a:avLst/>
          </a:prstGeom>
          <a:solidFill>
            <a:srgbClr val="1E1E32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98280" y="3355848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water_body_change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922776"/>
            <a:ext cx="228600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" y="3922776"/>
            <a:ext cx="2286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Ladakh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06040" y="3922776"/>
            <a:ext cx="155448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606040" y="3922776"/>
            <a:ext cx="15544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0520" y="3922776"/>
            <a:ext cx="155448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60520" y="3922776"/>
            <a:ext cx="15544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2.0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15000" y="3922776"/>
            <a:ext cx="137160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15000" y="3922776"/>
            <a:ext cx="1371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9.0 %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86600" y="3922776"/>
            <a:ext cx="201168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86600" y="3922776"/>
            <a:ext cx="20116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34% *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98280" y="3922776"/>
            <a:ext cx="1828800" cy="521207"/>
          </a:xfrm>
          <a:prstGeom prst="rect">
            <a:avLst/>
          </a:prstGeom>
          <a:solidFill>
            <a:srgbClr val="2A2A3E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98280" y="3922776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construction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5669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All results from outputs/&lt;region&gt;/result.json  ·  CPU inference  ·  spectral-diff fallback active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* Conservative scores reflect domain gap: trained on 0.5m LEVIR-CD, running on 10m Sentinel-2. Fine-tuning → 85%+ confidence.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BharatDrishti  ·  Sovereign Technology for India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9933"/>
                </a:solidFill>
              </a:rPr>
              <a:t>AI Deep Tech — ChangeFormerV6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96112"/>
            <a:ext cx="11430000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CCCCCC"/>
                </a:solidFill>
              </a:rPr>
              <a:t>▸  Siamese Transformer — dual MiT-b2 hierarchical encoders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CCCCCC"/>
                </a:solidFill>
              </a:rPr>
              <a:t>▸  Self-attention at 1/4 · 1/8 · 1/16 · 1/32 resolution scales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CCCCCC"/>
                </a:solidFill>
              </a:rPr>
              <a:t>▸  Element-wise difference module across T1/T2 feature maps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CCCCCC"/>
                </a:solidFill>
              </a:rPr>
              <a:t>▸  Lightweight MLP decoder → change probability heatmap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CCCCCC"/>
                </a:solidFill>
              </a:rPr>
              <a:t>▸  41M parameters  ·  94.95% val accuracy on LEVIR-CD</a:t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CCCCCC"/>
                </a:solidFill>
              </a:rPr>
              <a:t>▸  CNN baseline: ~91–92%  →  Transformer gains: +3 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005840"/>
            <a:ext cx="5486400" cy="141732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9933"/>
                </a:solidFill>
              </a:rPr>
              <a:t>NDVI = (B08 − B04) / (B08 + B04)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</a:rPr>
              <a:t>· delta &lt; −0.15  →  vegetation_loss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</a:rPr>
              <a:t>· delta &gt; +0.15  →  vegetation_gain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</a:rPr>
              <a:t>· Range −1.0 to +1.0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560320"/>
            <a:ext cx="5486400" cy="123444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2606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9933"/>
                </a:solidFill>
              </a:rPr>
              <a:t>Confidence &amp;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71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</a:rPr>
              <a:t>· Current range: 0.34 – 0.42  (domain gap, not a bug)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</a:rPr>
              <a:t>· Spectral-diff fallback when mean prob &lt; 0.3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CCCCC"/>
                </a:solidFill>
              </a:rPr>
              <a:t>· Domain gap: LEVIR-CD (Texas RGB 0.5 m) vs Sentinel-2 (India 10 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9933"/>
                </a:solidFill>
              </a:rPr>
              <a:t>Change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43400"/>
            <a:ext cx="2194560" cy="1234440"/>
          </a:xfrm>
          <a:prstGeom prst="rect">
            <a:avLst/>
          </a:prstGeom>
          <a:solidFill>
            <a:srgbClr val="2A2A3E"/>
          </a:solidFill>
          <a:ln w="1905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43891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F5350"/>
                </a:solidFill>
              </a:rPr>
              <a:t>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7548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Red↑ NIR↓
bare soil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4343400"/>
            <a:ext cx="2194560" cy="1234440"/>
          </a:xfrm>
          <a:prstGeom prst="rect">
            <a:avLst/>
          </a:prstGeom>
          <a:solidFill>
            <a:srgbClr val="2A2A3E"/>
          </a:solidFill>
          <a:ln w="19050">
            <a:solidFill>
              <a:srgbClr val="FF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51760" y="43891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7000"/>
                </a:solidFill>
              </a:rPr>
              <a:t>vegetation_loss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7548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NDVI delta
&lt; −0.15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4343400"/>
            <a:ext cx="2194560" cy="1234440"/>
          </a:xfrm>
          <a:prstGeom prst="rect">
            <a:avLst/>
          </a:prstGeom>
          <a:solidFill>
            <a:srgbClr val="2A2A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43891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</a:rPr>
              <a:t>vegetation_gain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7548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NDVI delta
&gt; +0.15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4343400"/>
            <a:ext cx="2194560" cy="1234440"/>
          </a:xfrm>
          <a:prstGeom prst="rect">
            <a:avLst/>
          </a:prstGeom>
          <a:solidFill>
            <a:srgbClr val="2A2A3E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0" y="43891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</a:rPr>
              <a:t>water_body_change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7548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Red↓ NIR↓
Blue 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4343400"/>
            <a:ext cx="2194560" cy="1234440"/>
          </a:xfrm>
          <a:prstGeom prst="rect">
            <a:avLst/>
          </a:prstGeom>
          <a:solidFill>
            <a:srgbClr val="2A2A3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0" y="43891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CCCC"/>
                </a:solidFill>
              </a:rPr>
              <a:t>general_change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7548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Mixed
signature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BharatDrishti  ·  Sovereign Technology for India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9933"/>
                </a:solidFill>
              </a:rPr>
              <a:t>Roadmap — From Prototype to National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96112"/>
            <a:ext cx="11430000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466344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9933"/>
                </a:solidFill>
              </a:rPr>
              <a:t>Stage 1
(Now)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727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Functional 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29968"/>
            <a:ext cx="2560320" cy="2743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21214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3 regions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9689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CPU offline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07238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Full pipeline operational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547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100% open-source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9933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051560"/>
            <a:ext cx="2743200" cy="466344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9933"/>
                </a:solidFill>
              </a:rPr>
              <a:t>Stage 2
(Production)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5727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Sovereign Cloud Deploy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2029968"/>
            <a:ext cx="2560320" cy="2743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79" y="21214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Live CDSE / ISRO Bhuvan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259689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NIC cloud / ISRO servers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307238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NVIDIA T4 → &lt; 1 s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3547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FastAPI production hardening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9933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51560"/>
            <a:ext cx="2743200" cy="466344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9933"/>
                </a:solidFill>
              </a:rPr>
              <a:t>Stage 3
(Scale)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5727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National Coverage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2029968"/>
            <a:ext cx="2560320" cy="2743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21214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Celery + Redis task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59689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4–8 T4 GPU fleet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07238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Threshold-based alert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547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All 3.29M km² of India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246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9933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1051560"/>
            <a:ext cx="2743200" cy="4663440"/>
          </a:xfrm>
          <a:prstGeom prst="rect">
            <a:avLst/>
          </a:prstGeom>
          <a:solidFill>
            <a:srgbClr val="2A2A3E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8972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9933"/>
                </a:solidFill>
              </a:rPr>
              <a:t>Stage 4
(Fine-tune)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5727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85%+ Confidence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2029968"/>
            <a:ext cx="2560320" cy="2743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0" y="21214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100–500 Indian Sentinel-2 pairs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259689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Fine-tune from LEVIR checkpoint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07238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Single A100, ~12–18 hours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547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· Confidence: 0.3–0.5 → 0.7–0.9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897880"/>
            <a:ext cx="11430000" cy="566928"/>
          </a:xfrm>
          <a:prstGeom prst="rect">
            <a:avLst/>
          </a:prstGeom>
          <a:solidFill>
            <a:srgbClr val="1E1005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9933"/>
                </a:solidFill>
              </a:rPr>
              <a:t>ISRO integration · Fine-tuning on Indian data · 85%+ confidence · Atmanirbhar Bharat geospatial sovereignty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BharatDrishti  ·  Sovereign Technology for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843</Words>
  <Application>Microsoft Office PowerPoint</Application>
  <PresentationFormat>Widescreen</PresentationFormat>
  <Paragraphs>182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prashik kadam</cp:lastModifiedBy>
  <cp:revision>1</cp:revision>
  <dcterms:created xsi:type="dcterms:W3CDTF">2013-01-27T09:14:16Z</dcterms:created>
  <dcterms:modified xsi:type="dcterms:W3CDTF">2026-08-16T17:04:21Z</dcterms:modified>
  <cp:category/>
</cp:coreProperties>
</file>